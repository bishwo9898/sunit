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1" r:id="rId3"/>
    <p:sldId id="319" r:id="rId4"/>
    <p:sldId id="297" r:id="rId5"/>
    <p:sldId id="320" r:id="rId6"/>
    <p:sldId id="298" r:id="rId7"/>
    <p:sldId id="299" r:id="rId8"/>
    <p:sldId id="301" r:id="rId9"/>
    <p:sldId id="300" r:id="rId10"/>
    <p:sldId id="302" r:id="rId11"/>
    <p:sldId id="303" r:id="rId12"/>
    <p:sldId id="304" r:id="rId13"/>
    <p:sldId id="305" r:id="rId14"/>
    <p:sldId id="321" r:id="rId15"/>
    <p:sldId id="306" r:id="rId16"/>
    <p:sldId id="307" r:id="rId17"/>
    <p:sldId id="308" r:id="rId18"/>
    <p:sldId id="318" r:id="rId19"/>
    <p:sldId id="317" r:id="rId20"/>
    <p:sldId id="322" r:id="rId21"/>
    <p:sldId id="309" r:id="rId22"/>
    <p:sldId id="311" r:id="rId23"/>
    <p:sldId id="312" r:id="rId24"/>
    <p:sldId id="313" r:id="rId25"/>
    <p:sldId id="314" r:id="rId26"/>
    <p:sldId id="315" r:id="rId27"/>
    <p:sldId id="316" r:id="rId28"/>
    <p:sldId id="323" r:id="rId29"/>
    <p:sldId id="324" r:id="rId30"/>
    <p:sldId id="325" r:id="rId31"/>
    <p:sldId id="326" r:id="rId32"/>
    <p:sldId id="327" r:id="rId33"/>
    <p:sldId id="29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91065-B649-AB47-BB42-2E31ACE6F324}" v="17" dt="2025-10-01T17:40:10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modSld">
      <pc:chgData name="Thomas E. Allen" userId="fac1e450-38fb-4bf3-b565-8fec8795d0e7" providerId="ADAL" clId="{7E3A5CB4-CCF8-5D69-894C-14E127D6541A}" dt="2025-10-01T17:40:17.089" v="22" actId="20577"/>
      <pc:docMkLst>
        <pc:docMk/>
      </pc:docMkLst>
      <pc:sldChg chg="modAnim">
        <pc:chgData name="Thomas E. Allen" userId="fac1e450-38fb-4bf3-b565-8fec8795d0e7" providerId="ADAL" clId="{7E3A5CB4-CCF8-5D69-894C-14E127D6541A}" dt="2025-10-01T17:38:31.234" v="0"/>
        <pc:sldMkLst>
          <pc:docMk/>
          <pc:sldMk cId="1120545263" sldId="291"/>
        </pc:sldMkLst>
      </pc:sldChg>
      <pc:sldChg chg="modSp mod">
        <pc:chgData name="Thomas E. Allen" userId="fac1e450-38fb-4bf3-b565-8fec8795d0e7" providerId="ADAL" clId="{7E3A5CB4-CCF8-5D69-894C-14E127D6541A}" dt="2025-10-01T17:40:17.089" v="22" actId="20577"/>
        <pc:sldMkLst>
          <pc:docMk/>
          <pc:sldMk cId="1775217481" sldId="293"/>
        </pc:sldMkLst>
        <pc:spChg chg="mod">
          <ac:chgData name="Thomas E. Allen" userId="fac1e450-38fb-4bf3-b565-8fec8795d0e7" providerId="ADAL" clId="{7E3A5CB4-CCF8-5D69-894C-14E127D6541A}" dt="2025-10-01T17:40:17.089" v="22" actId="20577"/>
          <ac:spMkLst>
            <pc:docMk/>
            <pc:sldMk cId="1775217481" sldId="293"/>
            <ac:spMk id="3" creationId="{2204AA0D-EDD3-660E-F174-306DF27DE28E}"/>
          </ac:spMkLst>
        </pc:spChg>
      </pc:sldChg>
      <pc:sldChg chg="modAnim">
        <pc:chgData name="Thomas E. Allen" userId="fac1e450-38fb-4bf3-b565-8fec8795d0e7" providerId="ADAL" clId="{7E3A5CB4-CCF8-5D69-894C-14E127D6541A}" dt="2025-10-01T17:38:35.149" v="1"/>
        <pc:sldMkLst>
          <pc:docMk/>
          <pc:sldMk cId="1256077474" sldId="297"/>
        </pc:sldMkLst>
      </pc:sldChg>
      <pc:sldChg chg="modAnim">
        <pc:chgData name="Thomas E. Allen" userId="fac1e450-38fb-4bf3-b565-8fec8795d0e7" providerId="ADAL" clId="{7E3A5CB4-CCF8-5D69-894C-14E127D6541A}" dt="2025-10-01T17:38:43.170" v="2"/>
        <pc:sldMkLst>
          <pc:docMk/>
          <pc:sldMk cId="3118863825" sldId="298"/>
        </pc:sldMkLst>
      </pc:sldChg>
      <pc:sldChg chg="modAnim">
        <pc:chgData name="Thomas E. Allen" userId="fac1e450-38fb-4bf3-b565-8fec8795d0e7" providerId="ADAL" clId="{7E3A5CB4-CCF8-5D69-894C-14E127D6541A}" dt="2025-10-01T17:39:03.858" v="3"/>
        <pc:sldMkLst>
          <pc:docMk/>
          <pc:sldMk cId="2453170029" sldId="303"/>
        </pc:sldMkLst>
      </pc:sldChg>
      <pc:sldChg chg="modAnim">
        <pc:chgData name="Thomas E. Allen" userId="fac1e450-38fb-4bf3-b565-8fec8795d0e7" providerId="ADAL" clId="{7E3A5CB4-CCF8-5D69-894C-14E127D6541A}" dt="2025-10-01T17:39:10.417" v="4"/>
        <pc:sldMkLst>
          <pc:docMk/>
          <pc:sldMk cId="1310536952" sldId="305"/>
        </pc:sldMkLst>
      </pc:sldChg>
      <pc:sldChg chg="modAnim">
        <pc:chgData name="Thomas E. Allen" userId="fac1e450-38fb-4bf3-b565-8fec8795d0e7" providerId="ADAL" clId="{7E3A5CB4-CCF8-5D69-894C-14E127D6541A}" dt="2025-10-01T17:39:15.700" v="5"/>
        <pc:sldMkLst>
          <pc:docMk/>
          <pc:sldMk cId="937005468" sldId="306"/>
        </pc:sldMkLst>
      </pc:sldChg>
      <pc:sldChg chg="modAnim">
        <pc:chgData name="Thomas E. Allen" userId="fac1e450-38fb-4bf3-b565-8fec8795d0e7" providerId="ADAL" clId="{7E3A5CB4-CCF8-5D69-894C-14E127D6541A}" dt="2025-10-01T17:39:22.283" v="6"/>
        <pc:sldMkLst>
          <pc:docMk/>
          <pc:sldMk cId="37892042" sldId="308"/>
        </pc:sldMkLst>
      </pc:sldChg>
      <pc:sldChg chg="modAnim">
        <pc:chgData name="Thomas E. Allen" userId="fac1e450-38fb-4bf3-b565-8fec8795d0e7" providerId="ADAL" clId="{7E3A5CB4-CCF8-5D69-894C-14E127D6541A}" dt="2025-10-01T17:39:34.744" v="9"/>
        <pc:sldMkLst>
          <pc:docMk/>
          <pc:sldMk cId="2316422797" sldId="309"/>
        </pc:sldMkLst>
      </pc:sldChg>
      <pc:sldChg chg="modAnim">
        <pc:chgData name="Thomas E. Allen" userId="fac1e450-38fb-4bf3-b565-8fec8795d0e7" providerId="ADAL" clId="{7E3A5CB4-CCF8-5D69-894C-14E127D6541A}" dt="2025-10-01T17:39:43.707" v="11"/>
        <pc:sldMkLst>
          <pc:docMk/>
          <pc:sldMk cId="2424925540" sldId="312"/>
        </pc:sldMkLst>
      </pc:sldChg>
      <pc:sldChg chg="modAnim">
        <pc:chgData name="Thomas E. Allen" userId="fac1e450-38fb-4bf3-b565-8fec8795d0e7" providerId="ADAL" clId="{7E3A5CB4-CCF8-5D69-894C-14E127D6541A}" dt="2025-10-01T17:39:47.908" v="12"/>
        <pc:sldMkLst>
          <pc:docMk/>
          <pc:sldMk cId="3974569901" sldId="314"/>
        </pc:sldMkLst>
      </pc:sldChg>
      <pc:sldChg chg="modAnim">
        <pc:chgData name="Thomas E. Allen" userId="fac1e450-38fb-4bf3-b565-8fec8795d0e7" providerId="ADAL" clId="{7E3A5CB4-CCF8-5D69-894C-14E127D6541A}" dt="2025-10-01T17:39:55.606" v="13"/>
        <pc:sldMkLst>
          <pc:docMk/>
          <pc:sldMk cId="3775677191" sldId="316"/>
        </pc:sldMkLst>
      </pc:sldChg>
      <pc:sldChg chg="modAnim">
        <pc:chgData name="Thomas E. Allen" userId="fac1e450-38fb-4bf3-b565-8fec8795d0e7" providerId="ADAL" clId="{7E3A5CB4-CCF8-5D69-894C-14E127D6541A}" dt="2025-10-01T17:39:29.744" v="8"/>
        <pc:sldMkLst>
          <pc:docMk/>
          <pc:sldMk cId="1714914842" sldId="317"/>
        </pc:sldMkLst>
      </pc:sldChg>
      <pc:sldChg chg="modAnim">
        <pc:chgData name="Thomas E. Allen" userId="fac1e450-38fb-4bf3-b565-8fec8795d0e7" providerId="ADAL" clId="{7E3A5CB4-CCF8-5D69-894C-14E127D6541A}" dt="2025-10-01T17:39:25.701" v="7"/>
        <pc:sldMkLst>
          <pc:docMk/>
          <pc:sldMk cId="1780653530" sldId="318"/>
        </pc:sldMkLst>
      </pc:sldChg>
      <pc:sldChg chg="modAnim">
        <pc:chgData name="Thomas E. Allen" userId="fac1e450-38fb-4bf3-b565-8fec8795d0e7" providerId="ADAL" clId="{7E3A5CB4-CCF8-5D69-894C-14E127D6541A}" dt="2025-10-01T17:40:00.654" v="14"/>
        <pc:sldMkLst>
          <pc:docMk/>
          <pc:sldMk cId="2080917305" sldId="324"/>
        </pc:sldMkLst>
      </pc:sldChg>
      <pc:sldChg chg="modAnim">
        <pc:chgData name="Thomas E. Allen" userId="fac1e450-38fb-4bf3-b565-8fec8795d0e7" providerId="ADAL" clId="{7E3A5CB4-CCF8-5D69-894C-14E127D6541A}" dt="2025-10-01T17:40:06.113" v="15"/>
        <pc:sldMkLst>
          <pc:docMk/>
          <pc:sldMk cId="3819466004" sldId="326"/>
        </pc:sldMkLst>
      </pc:sldChg>
      <pc:sldChg chg="modAnim">
        <pc:chgData name="Thomas E. Allen" userId="fac1e450-38fb-4bf3-b565-8fec8795d0e7" providerId="ADAL" clId="{7E3A5CB4-CCF8-5D69-894C-14E127D6541A}" dt="2025-10-01T17:40:10.215" v="16"/>
        <pc:sldMkLst>
          <pc:docMk/>
          <pc:sldMk cId="2874670188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1E4B2-563E-4A41-9C3D-748F35FA6BA6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CE5D6-439B-9F4A-9E94-D487911D0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6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CE5D6-439B-9F4A-9E94-D487911D01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7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EE2B-F645-82DE-5F1C-57DBD3B94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24DC8-C7EC-90E3-E9A5-80FC1783A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42699-0711-B514-EA22-C1AF06FD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C14DB-5876-8410-1055-9A9799AC7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A76BA-4554-881D-7560-93AD6D51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1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8C6D-872C-9643-4338-6C1EBB9B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344E9-2C49-56E1-569C-36DD0E3E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7D7E-14C1-A433-D13C-EB951BE6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70C09-8A20-76C8-6279-F78BADEC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16BD-2B3F-F3EC-2FF0-27B3D97B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2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3B8B-923D-9CE0-50E6-B4CD2A3F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4DC34-F879-62E4-9395-5FA0BD89C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5C701-9ABB-C58F-3B81-9A9DE95F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8F062-2D24-0094-C6FD-163F29C5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82C1-111E-508A-A41A-1B380671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1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0447-E021-4CC7-215C-33B0F882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CBB1-D7FC-171A-39C4-7032B3EA7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3A471-B302-145A-33C3-02BA18BCB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DBC63-F05A-7157-A688-EDE79785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2B911-1136-3E03-D4D0-530F86E0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29155-ED19-A813-6E6E-7168E779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2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4CCE-3B2C-729A-988B-A630D4ED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4CA25-A173-5B9B-AA35-E75FD02E2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E5E34-8E2A-AC7B-42B4-0F274058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460AF-DC2F-B3C5-B6F0-678D054D8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0C144-72C5-4333-7542-9A3339B4E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8717-4C6C-8A69-1A8F-73F7EC48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184420-73B7-34AB-47C5-0C686151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91FD5-A12B-F13F-29E2-CC84736C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4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3A38-4A1C-4730-1D5E-F387451D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2E55E-1C91-08ED-2518-2C21BD50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DBF324-6284-733C-6826-85A832B3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2275-9AB0-8BA1-DF15-68367168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DA0C4-EA95-512B-64BC-F351288C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0FB5D-62B2-6339-1F62-D2F26E22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724E6-E32D-24B5-64DE-AF49EA4A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00D2-A9F5-EF0C-90DE-CA7FE236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8597-AE60-331C-B23F-0D5CBC72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B95C8-DD08-5012-C80E-F99335E8C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44FB8-A411-6EC8-4D7F-4FBE2AAB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AE599-34F5-7B22-5BFF-183AEB3F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5CF45-E764-00EB-F93B-E8FB4E16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3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1C71-2F69-1144-32E6-7E962E23C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A9E24-8AE9-8616-615C-756B26858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8B49F-2877-C160-9334-F23730E7E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2287E-D985-C3B0-CC8A-FC5AF6B6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7CDE6-E8E3-5808-F643-D0DD0D58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E2545-1DA7-F0FC-F6B7-E23257F1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2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84C5-2A93-4114-F7B3-7BA913D0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0A59-4EF3-AD56-535E-33970C42E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377D1-B975-DF94-1EA4-5C732176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16FE-CC40-6AA9-358F-90D9A650E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3B635-7D59-35AB-5AA0-8D2ED2EC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1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DF6D2A-CF20-F5F0-D937-A36A0D9C4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4AD27-D2D9-84B7-D925-82FB3BB6F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EB3B-F960-6D9D-EB06-9F957830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8185D-C309-8C0A-69C3-AA0F7896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A63D3-9FF3-707C-D405-6FFA4C47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4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18E93-BA71-9AB4-5BA3-7A80031F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5148-E155-6387-67A6-A35899C1C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67C5-26E3-08FB-D7B4-D182A79F1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11A9A-A568-AA49-86FD-BAF166678C4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BCCD5-1C02-40F9-A0C5-3A34298F7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D9357-5DC6-528D-C730-886569FD7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92D4D-7E4D-BB46-890D-027867B6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732E-64ED-2057-2E2F-1E1B9DC29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18B46-05E4-A447-5784-10354E31B6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Merging and Reshaping Data</a:t>
            </a:r>
          </a:p>
          <a:p>
            <a:r>
              <a:rPr lang="en-US" dirty="0"/>
              <a:t>DSC 270 Data Manipulation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0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C33-F7F6-649E-52F1-7151CCEA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AA4A7-D6FC-8C4F-7847-CFC41213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operations in Pandas you already know</a:t>
            </a:r>
          </a:p>
          <a:p>
            <a:r>
              <a:rPr lang="en-US" dirty="0"/>
              <a:t>Reshaping: melt, pivot, </a:t>
            </a:r>
            <a:r>
              <a:rPr lang="en-US" dirty="0" err="1"/>
              <a:t>pivot_table</a:t>
            </a:r>
            <a:r>
              <a:rPr lang="en-US" dirty="0"/>
              <a:t>		transpose</a:t>
            </a:r>
          </a:p>
          <a:p>
            <a:r>
              <a:rPr lang="en-US" dirty="0"/>
              <a:t>Concatenating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Sorting and reordering rows, indexes, and columns</a:t>
            </a:r>
          </a:p>
          <a:p>
            <a:r>
              <a:rPr lang="en-US" dirty="0"/>
              <a:t>Merging </a:t>
            </a:r>
            <a:r>
              <a:rPr lang="en-US" dirty="0" err="1"/>
              <a:t>DataFrames</a:t>
            </a:r>
            <a:r>
              <a:rPr lang="en-US" dirty="0"/>
              <a:t>: INNER, LEFT, RIGHT, OUTER JOIN</a:t>
            </a:r>
          </a:p>
          <a:p>
            <a:r>
              <a:rPr lang="en-US" dirty="0"/>
              <a:t>Insert, Deleting, and Updating columns, rows, and entries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4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6274-5F24-A904-589D-90B94036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operations in Pandas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49B85-7B98-1304-D901-131B3C034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8BA3-0DCE-8DB7-78CE-AEAF324E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Database Operations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236FD-8C7B-2E88-ECF2-03A88C052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Select</a:t>
            </a:r>
            <a:r>
              <a:rPr lang="en-US" b="1" dirty="0"/>
              <a:t> and apply simple </a:t>
            </a:r>
            <a:r>
              <a:rPr lang="en-US" b="1" dirty="0">
                <a:solidFill>
                  <a:srgbClr val="C00000"/>
                </a:solidFill>
              </a:rPr>
              <a:t>computations</a:t>
            </a:r>
            <a:r>
              <a:rPr lang="en-US" b="1" dirty="0"/>
              <a:t> on columns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['col1'] +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['col2']		</a:t>
            </a:r>
            <a:r>
              <a:rPr lang="en-US" dirty="0" err="1">
                <a:latin typeface="Aptos Mono" panose="020B0009020202020204" pitchFamily="49" charset="0"/>
              </a:rPr>
              <a:t>df.loc</a:t>
            </a:r>
            <a:r>
              <a:rPr lang="en-US" dirty="0">
                <a:latin typeface="Aptos Mono" panose="020B0009020202020204" pitchFamily="49" charset="0"/>
              </a:rPr>
              <a:t>[:, 'Age':] * 2</a:t>
            </a:r>
          </a:p>
          <a:p>
            <a:r>
              <a:rPr lang="en-US" b="1" dirty="0">
                <a:solidFill>
                  <a:srgbClr val="C00000"/>
                </a:solidFill>
              </a:rPr>
              <a:t>Filter</a:t>
            </a:r>
            <a:r>
              <a:rPr lang="en-US" b="1" dirty="0"/>
              <a:t> rows that meet a </a:t>
            </a:r>
            <a:r>
              <a:rPr lang="en-US" b="1" dirty="0">
                <a:solidFill>
                  <a:srgbClr val="C00000"/>
                </a:solidFill>
              </a:rPr>
              <a:t>condition</a:t>
            </a:r>
            <a:r>
              <a:rPr lang="en-US" b="1" dirty="0"/>
              <a:t> and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limit</a:t>
            </a:r>
            <a:r>
              <a:rPr lang="en-US" b="1" dirty="0"/>
              <a:t> output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['col2'] &gt; 50].head(5)		</a:t>
            </a:r>
            <a:r>
              <a:rPr lang="en-US" dirty="0" err="1">
                <a:latin typeface="Aptos Mono" panose="020B0009020202020204" pitchFamily="49" charset="0"/>
              </a:rPr>
              <a:t>df.query</a:t>
            </a:r>
            <a:r>
              <a:rPr lang="en-US" dirty="0">
                <a:latin typeface="Aptos Mono" panose="020B0009020202020204" pitchFamily="49" charset="0"/>
              </a:rPr>
              <a:t>("Age &lt; 35")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Grouping</a:t>
            </a:r>
            <a:r>
              <a:rPr lang="en-US" b="1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aggregation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df.groupby</a:t>
            </a:r>
            <a:r>
              <a:rPr lang="en-US" dirty="0">
                <a:latin typeface="Aptos Mono" panose="020B0009020202020204" pitchFamily="49" charset="0"/>
              </a:rPr>
              <a:t>('col3').</a:t>
            </a:r>
            <a:r>
              <a:rPr lang="en-US" dirty="0" err="1">
                <a:latin typeface="Aptos Mono" panose="020B0009020202020204" pitchFamily="49" charset="0"/>
              </a:rPr>
              <a:t>agg</a:t>
            </a:r>
            <a:r>
              <a:rPr lang="en-US" dirty="0">
                <a:latin typeface="Aptos Mono" panose="020B0009020202020204" pitchFamily="49" charset="0"/>
              </a:rPr>
              <a:t>({'col4': ['mean', 'std', </a:t>
            </a:r>
            <a:r>
              <a:rPr lang="en-US" dirty="0" err="1">
                <a:latin typeface="Aptos Mono" panose="020B0009020202020204" pitchFamily="49" charset="0"/>
              </a:rPr>
              <a:t>rng</a:t>
            </a:r>
            <a:r>
              <a:rPr lang="en-US" dirty="0">
                <a:latin typeface="Aptos Mono" panose="020B0009020202020204" pitchFamily="49" charset="0"/>
              </a:rPr>
              <a:t>]})</a:t>
            </a:r>
          </a:p>
          <a:p>
            <a:r>
              <a:rPr lang="en-US" b="1" dirty="0"/>
              <a:t>UP NEXT: merging, reshaping, sorting</a:t>
            </a:r>
            <a:endParaRPr lang="en-US" dirty="0"/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merged_df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pd.merge</a:t>
            </a:r>
            <a:r>
              <a:rPr lang="en-US" dirty="0">
                <a:latin typeface="Aptos Mono" panose="020B0009020202020204" pitchFamily="49" charset="0"/>
              </a:rPr>
              <a:t>(df1, df2, how='left', on='key')</a:t>
            </a:r>
            <a:endParaRPr lang="en-US" b="1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07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C73B-F6D4-CC20-8C2C-88C4DDB7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FFF56-0EAF-E135-4D12-5798DB234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0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983-EA00-7B40-25AF-9CAD87BE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 Data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2F8F-DAA7-5277-E32A-6271775B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 for analysis</a:t>
            </a:r>
          </a:p>
          <a:p>
            <a:r>
              <a:rPr lang="en-US" dirty="0"/>
              <a:t>Rearrange structure without changing data</a:t>
            </a:r>
          </a:p>
          <a:p>
            <a:r>
              <a:rPr lang="en-US" dirty="0"/>
              <a:t>Functions include melt, pivot, </a:t>
            </a:r>
            <a:r>
              <a:rPr lang="en-US" dirty="0" err="1"/>
              <a:t>concat</a:t>
            </a:r>
            <a:r>
              <a:rPr lang="en-US" dirty="0"/>
              <a:t>, sort</a:t>
            </a:r>
          </a:p>
        </p:txBody>
      </p:sp>
    </p:spTree>
    <p:extLst>
      <p:ext uri="{BB962C8B-B14F-4D97-AF65-F5344CB8AC3E}">
        <p14:creationId xmlns:p14="http://schemas.microsoft.com/office/powerpoint/2010/main" val="311886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3354-6C8C-813C-9502-50BA486E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9D3C-6EE6-4492-0851-1ECF3994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Transforms </a:t>
            </a:r>
            <a:r>
              <a:rPr lang="en-US" b="1" dirty="0">
                <a:solidFill>
                  <a:srgbClr val="C00000"/>
                </a:solidFill>
              </a:rPr>
              <a:t>wide</a:t>
            </a:r>
            <a:r>
              <a:rPr lang="en-US" dirty="0"/>
              <a:t> (</a:t>
            </a:r>
            <a:r>
              <a:rPr lang="en-US" b="1" dirty="0"/>
              <a:t>pivoted</a:t>
            </a:r>
            <a:r>
              <a:rPr lang="en-US" dirty="0"/>
              <a:t>) format to </a:t>
            </a:r>
            <a:r>
              <a:rPr lang="en-US" b="1" dirty="0">
                <a:solidFill>
                  <a:srgbClr val="C00000"/>
                </a:solidFill>
              </a:rPr>
              <a:t>long</a:t>
            </a:r>
            <a:r>
              <a:rPr lang="en-US" dirty="0"/>
              <a:t> format</a:t>
            </a:r>
          </a:p>
          <a:p>
            <a:r>
              <a:rPr lang="en-US" dirty="0"/>
              <a:t>Collapses multiple columns into one</a:t>
            </a:r>
          </a:p>
          <a:p>
            <a:r>
              <a:rPr lang="en-US" dirty="0"/>
              <a:t>Facilitates stats modeling and data transforms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C4B0-D794-EDC1-3131-C5BB120C6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3" y="3526554"/>
            <a:ext cx="2479222" cy="2530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7FF845-44C3-87E1-1E2A-67489EF14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099" y="2656114"/>
            <a:ext cx="2874701" cy="3520849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20A96633-B26F-2BFA-A0BE-80D91DEF1ADC}"/>
              </a:ext>
            </a:extLst>
          </p:cNvPr>
          <p:cNvSpPr/>
          <p:nvPr/>
        </p:nvSpPr>
        <p:spPr>
          <a:xfrm>
            <a:off x="6301031" y="4416538"/>
            <a:ext cx="1799771" cy="750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7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E36ABA-E4CA-2F5F-638A-9D935230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43" y="381000"/>
            <a:ext cx="10162086" cy="501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4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4777-FA00-3320-0475-77EA78AB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1D833-7406-E22E-4305-1625606D5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Transforms </a:t>
            </a:r>
            <a:r>
              <a:rPr lang="en-US" b="1" dirty="0">
                <a:solidFill>
                  <a:srgbClr val="C00000"/>
                </a:solidFill>
              </a:rPr>
              <a:t>long</a:t>
            </a:r>
            <a:r>
              <a:rPr lang="en-US" dirty="0"/>
              <a:t> (</a:t>
            </a:r>
            <a:r>
              <a:rPr lang="en-US" b="1" dirty="0"/>
              <a:t>melted</a:t>
            </a:r>
            <a:r>
              <a:rPr lang="en-US" dirty="0"/>
              <a:t>) format to </a:t>
            </a:r>
            <a:r>
              <a:rPr lang="en-US" b="1" dirty="0">
                <a:solidFill>
                  <a:srgbClr val="C00000"/>
                </a:solidFill>
              </a:rPr>
              <a:t>wide</a:t>
            </a:r>
            <a:r>
              <a:rPr lang="en-US" dirty="0"/>
              <a:t> format</a:t>
            </a:r>
          </a:p>
          <a:p>
            <a:r>
              <a:rPr lang="en-US" dirty="0"/>
              <a:t>Creates new table from group of variables</a:t>
            </a:r>
          </a:p>
          <a:p>
            <a:r>
              <a:rPr lang="en-US" dirty="0"/>
              <a:t>Enhances data presentation and readability for insights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85E06-6049-D860-4618-1C2DF207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829" y="3566261"/>
            <a:ext cx="3932555" cy="2749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BA7C2-E663-41F7-B12E-9C7FD27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771" y="3636904"/>
            <a:ext cx="3763645" cy="2562481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42512B24-AFF5-E41B-B820-2B2C3E14867B}"/>
              </a:ext>
            </a:extLst>
          </p:cNvPr>
          <p:cNvSpPr/>
          <p:nvPr/>
        </p:nvSpPr>
        <p:spPr>
          <a:xfrm>
            <a:off x="5943192" y="4431052"/>
            <a:ext cx="1799771" cy="750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2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D24C-91A7-655D-D1C9-4C28161D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16B3AB-4D24-5A56-91F6-C4780587A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5" y="391886"/>
            <a:ext cx="11142480" cy="41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3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5474-6B56-3C04-CB03-72854F65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pivot() vs. </a:t>
            </a:r>
            <a:r>
              <a:rPr lang="en-US" dirty="0" err="1"/>
              <a:t>pivot_table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38E05-716E-DEA6-6233-09D520544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Mono" panose="020B0009020202020204" pitchFamily="49" charset="0"/>
              </a:rPr>
              <a:t>pivot()</a:t>
            </a:r>
            <a:r>
              <a:rPr lang="en-US" dirty="0"/>
              <a:t>: reshapes data with unique index/column pairs</a:t>
            </a:r>
          </a:p>
          <a:p>
            <a:pPr lvl="1"/>
            <a:r>
              <a:rPr lang="en-US" dirty="0"/>
              <a:t>Doesn't handle aggregation of multiple values itself </a:t>
            </a:r>
          </a:p>
          <a:p>
            <a:pPr lvl="1"/>
            <a:r>
              <a:rPr lang="en-US" dirty="0"/>
              <a:t>Use when you have unique </a:t>
            </a:r>
            <a:r>
              <a:rPr lang="en-US" dirty="0" err="1"/>
              <a:t>idx</a:t>
            </a:r>
            <a:r>
              <a:rPr lang="en-US" dirty="0"/>
              <a:t>/col combinations and want wider format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pivot_table</a:t>
            </a:r>
            <a:r>
              <a:rPr lang="en-US" dirty="0">
                <a:latin typeface="Aptos Mono" panose="020B0009020202020204" pitchFamily="49" charset="0"/>
              </a:rPr>
              <a:t>()</a:t>
            </a:r>
            <a:r>
              <a:rPr lang="en-US" dirty="0"/>
              <a:t>: Aggregates/reshapes data with duplicate entries</a:t>
            </a:r>
          </a:p>
          <a:p>
            <a:pPr lvl="1"/>
            <a:r>
              <a:rPr lang="en-US" dirty="0"/>
              <a:t>More flexible, can handle duplicate data by aggregating </a:t>
            </a:r>
          </a:p>
          <a:p>
            <a:pPr lvl="1"/>
            <a:r>
              <a:rPr lang="en-US" dirty="0"/>
              <a:t>For reshaping and summarizing data when you have duplicates</a:t>
            </a:r>
          </a:p>
          <a:p>
            <a:pPr lvl="1"/>
            <a:r>
              <a:rPr lang="en-US" dirty="0"/>
              <a:t>Can specify an aggregation function (like mean, sum, count, etc.)</a:t>
            </a:r>
          </a:p>
          <a:p>
            <a:pPr lvl="1"/>
            <a:r>
              <a:rPr lang="en-US" dirty="0"/>
              <a:t>Useful where you need to aggregate data while pivoting</a:t>
            </a:r>
          </a:p>
        </p:txBody>
      </p:sp>
    </p:spTree>
    <p:extLst>
      <p:ext uri="{BB962C8B-B14F-4D97-AF65-F5344CB8AC3E}">
        <p14:creationId xmlns:p14="http://schemas.microsoft.com/office/powerpoint/2010/main" val="245317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DBF1-BD78-39CC-62B7-9856E3357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Concatenate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3D86B-A369-54F9-B34B-4E1E953A7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Joins multiple </a:t>
            </a:r>
            <a:r>
              <a:rPr lang="en-US" dirty="0" err="1"/>
              <a:t>DataFrames</a:t>
            </a:r>
            <a:r>
              <a:rPr lang="en-US" dirty="0"/>
              <a:t> along rows or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8D4FD-428E-18D4-1F3D-61C581C9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86" y="2348512"/>
            <a:ext cx="7772400" cy="1065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05FA01-0D8B-BC81-724E-CA4103D23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342" y="3372910"/>
            <a:ext cx="1612900" cy="148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A0F696-02FA-3F64-41A6-3A3464D06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642" y="5214445"/>
            <a:ext cx="1625600" cy="162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E46675-F4A1-F135-3360-4F658B29D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371" y="3671360"/>
            <a:ext cx="1511300" cy="2374900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C902DA45-3548-E73A-D34F-4F44D97245FB}"/>
              </a:ext>
            </a:extLst>
          </p:cNvPr>
          <p:cNvSpPr/>
          <p:nvPr/>
        </p:nvSpPr>
        <p:spPr>
          <a:xfrm rot="833534">
            <a:off x="4941834" y="4206377"/>
            <a:ext cx="1799771" cy="750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DB16F38-8A36-8868-26C5-B279B2578B5F}"/>
              </a:ext>
            </a:extLst>
          </p:cNvPr>
          <p:cNvSpPr/>
          <p:nvPr/>
        </p:nvSpPr>
        <p:spPr>
          <a:xfrm rot="20617947">
            <a:off x="5004148" y="5581901"/>
            <a:ext cx="1799771" cy="750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4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EF7A-99D5-D8A4-CED2-2481BE1A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Wait! What happened to our index?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2EEF5-7E4F-E508-828F-E1D9A7658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Concatenation preserves original indices</a:t>
            </a:r>
          </a:p>
          <a:p>
            <a:r>
              <a:rPr lang="en-US" dirty="0"/>
              <a:t>May result in duplicates</a:t>
            </a:r>
          </a:p>
          <a:p>
            <a:r>
              <a:rPr lang="en-US" dirty="0"/>
              <a:t>Can change this with </a:t>
            </a:r>
            <a:r>
              <a:rPr lang="en-US" dirty="0" err="1">
                <a:latin typeface="Aptos Mono" panose="020B0009020202020204" pitchFamily="49" charset="0"/>
              </a:rPr>
              <a:t>ignore_index</a:t>
            </a:r>
            <a:r>
              <a:rPr lang="en-US" dirty="0">
                <a:latin typeface="Aptos Mono" panose="020B0009020202020204" pitchFamily="49" charset="0"/>
              </a:rPr>
              <a:t>=True</a:t>
            </a:r>
            <a:r>
              <a:rPr lang="en-US" dirty="0"/>
              <a:t> </a:t>
            </a:r>
          </a:p>
          <a:p>
            <a:r>
              <a:rPr lang="en-US" dirty="0"/>
              <a:t>This resets the index to create a unique, continuous index</a:t>
            </a:r>
          </a:p>
        </p:txBody>
      </p:sp>
    </p:spTree>
    <p:extLst>
      <p:ext uri="{BB962C8B-B14F-4D97-AF65-F5344CB8AC3E}">
        <p14:creationId xmlns:p14="http://schemas.microsoft.com/office/powerpoint/2010/main" val="131053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4409-E3C5-3C7C-924E-87D712F9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and Renaming</a:t>
            </a:r>
            <a:br>
              <a:rPr lang="en-US" dirty="0"/>
            </a:br>
            <a:r>
              <a:rPr lang="en-US" dirty="0"/>
              <a:t>Rows and Columns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804D-2CF7-E4FD-48D8-391400D71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0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9700-221E-298E-42EF-74C35A15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98AD-B9AF-71EA-734C-365008E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3250" cy="4351338"/>
          </a:xfrm>
        </p:spPr>
        <p:txBody>
          <a:bodyPr>
            <a:normAutofit/>
          </a:bodyPr>
          <a:lstStyle/>
          <a:p>
            <a:r>
              <a:rPr lang="en-US" b="1" dirty="0" err="1"/>
              <a:t>sort_values</a:t>
            </a:r>
            <a:endParaRPr lang="en-US" dirty="0"/>
          </a:p>
          <a:p>
            <a:pPr lvl="1"/>
            <a:r>
              <a:rPr lang="en-US" sz="2800" dirty="0"/>
              <a:t>Sorts </a:t>
            </a:r>
            <a:r>
              <a:rPr lang="en-US" sz="2800" dirty="0" err="1"/>
              <a:t>DataFrame</a:t>
            </a:r>
            <a:r>
              <a:rPr lang="en-US" sz="2800" dirty="0"/>
              <a:t> on one or more columns lexicographically</a:t>
            </a:r>
          </a:p>
          <a:p>
            <a:pPr lvl="1"/>
            <a:r>
              <a:rPr lang="en-US" sz="2800" dirty="0"/>
              <a:t>Specify </a:t>
            </a:r>
            <a:r>
              <a:rPr lang="en-US" sz="2800" dirty="0">
                <a:latin typeface="Aptos Mono" panose="020B0009020202020204" pitchFamily="49" charset="0"/>
              </a:rPr>
              <a:t>ascending=False</a:t>
            </a:r>
            <a:r>
              <a:rPr lang="en-US" sz="2800" dirty="0"/>
              <a:t> to sort in descending order</a:t>
            </a:r>
          </a:p>
          <a:p>
            <a:pPr marL="914400" lvl="2" indent="0">
              <a:buNone/>
            </a:pPr>
            <a:r>
              <a:rPr lang="en-US" sz="2400" dirty="0" err="1">
                <a:latin typeface="Aptos Mono" panose="020B0009020202020204" pitchFamily="49" charset="0"/>
              </a:rPr>
              <a:t>df.sort_values</a:t>
            </a:r>
            <a:r>
              <a:rPr lang="en-US" sz="2400" dirty="0">
                <a:latin typeface="Aptos Mono" panose="020B0009020202020204" pitchFamily="49" charset="0"/>
              </a:rPr>
              <a:t>(by='</a:t>
            </a:r>
            <a:r>
              <a:rPr lang="en-US" sz="2400" dirty="0" err="1">
                <a:latin typeface="Aptos Mono" panose="020B0009020202020204" pitchFamily="49" charset="0"/>
              </a:rPr>
              <a:t>column_name</a:t>
            </a:r>
            <a:r>
              <a:rPr lang="en-US" sz="2400" dirty="0">
                <a:latin typeface="Aptos Mono" panose="020B0009020202020204" pitchFamily="49" charset="0"/>
              </a:rPr>
              <a:t>', ascending=True)</a:t>
            </a:r>
            <a:endParaRPr lang="en-US" sz="2800" dirty="0"/>
          </a:p>
          <a:p>
            <a:r>
              <a:rPr lang="en-US" b="1" dirty="0" err="1"/>
              <a:t>sort_index</a:t>
            </a:r>
            <a:endParaRPr lang="en-US" dirty="0"/>
          </a:p>
          <a:p>
            <a:pPr lvl="1"/>
            <a:r>
              <a:rPr lang="en-US" sz="2800" dirty="0"/>
              <a:t>Sorts </a:t>
            </a:r>
            <a:r>
              <a:rPr lang="en-US" sz="2800" dirty="0" err="1"/>
              <a:t>DataFrame</a:t>
            </a:r>
            <a:r>
              <a:rPr lang="en-US" sz="2800" dirty="0"/>
              <a:t> by index</a:t>
            </a:r>
          </a:p>
          <a:p>
            <a:pPr lvl="1"/>
            <a:r>
              <a:rPr lang="en-US" sz="2800" dirty="0"/>
              <a:t>Useful for organizing data after transformations</a:t>
            </a:r>
          </a:p>
          <a:p>
            <a:pPr marL="914400" lvl="2" indent="0">
              <a:buNone/>
            </a:pPr>
            <a:r>
              <a:rPr lang="en-US" sz="2400" dirty="0" err="1">
                <a:latin typeface="Aptos Mono" panose="020B0009020202020204" pitchFamily="49" charset="0"/>
              </a:rPr>
              <a:t>df.sort_index</a:t>
            </a:r>
            <a:r>
              <a:rPr lang="en-US" sz="2400" dirty="0">
                <a:latin typeface="Aptos Mono" panose="020B0009020202020204" pitchFamily="49" charset="0"/>
              </a:rPr>
              <a:t>(ascending=True)</a:t>
            </a:r>
          </a:p>
          <a:p>
            <a:r>
              <a:rPr lang="en-US" b="1" dirty="0"/>
              <a:t>These return new </a:t>
            </a:r>
            <a:r>
              <a:rPr lang="en-US" b="1" dirty="0" err="1"/>
              <a:t>DataFrames</a:t>
            </a:r>
            <a:r>
              <a:rPr lang="en-US" b="1" dirty="0"/>
              <a:t>. Reassign or use </a:t>
            </a:r>
            <a:r>
              <a:rPr lang="en-US" b="1" dirty="0" err="1">
                <a:solidFill>
                  <a:srgbClr val="C00000"/>
                </a:solidFill>
                <a:latin typeface="Aptos Mono" panose="020B0009020202020204" pitchFamily="49" charset="0"/>
              </a:rPr>
              <a:t>inplace</a:t>
            </a:r>
            <a:r>
              <a:rPr lang="en-US" b="1" dirty="0">
                <a:solidFill>
                  <a:srgbClr val="C00000"/>
                </a:solidFill>
                <a:latin typeface="Aptos Mono" panose="020B0009020202020204" pitchFamily="49" charset="0"/>
              </a:rPr>
              <a:t>=True</a:t>
            </a:r>
            <a:r>
              <a:rPr lang="en-US" b="1" dirty="0"/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00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2EE7F-B5B4-227A-7298-E0C9E09E1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1" y="-38100"/>
            <a:ext cx="7480300" cy="4813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C23789-C48D-51B2-C094-7CBFDD3A0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4851400"/>
            <a:ext cx="2438400" cy="200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8C62A-941B-8614-BEFF-0C349219F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4813300"/>
            <a:ext cx="2463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7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3B0C-1C54-7920-4DB9-8497B63F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 and Drop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84D6C-5C24-8999-1891-3D0CE68A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ptos Mono" panose="020B0009020202020204" pitchFamily="49" charset="0"/>
              </a:rPr>
              <a:t>reset_index</a:t>
            </a:r>
            <a:r>
              <a:rPr lang="en-US" dirty="0">
                <a:latin typeface="Aptos Mono" panose="020B0009020202020204" pitchFamily="49" charset="0"/>
              </a:rPr>
              <a:t>()</a:t>
            </a:r>
            <a:r>
              <a:rPr lang="en-US" dirty="0"/>
              <a:t> transform index into column </a:t>
            </a:r>
          </a:p>
          <a:p>
            <a:r>
              <a:rPr lang="en-US" dirty="0"/>
              <a:t>Create a new sequential index</a:t>
            </a:r>
          </a:p>
          <a:p>
            <a:r>
              <a:rPr lang="en-US" dirty="0"/>
              <a:t>Use </a:t>
            </a:r>
            <a:r>
              <a:rPr lang="en-US" dirty="0">
                <a:latin typeface="Aptos Mono" panose="020B0009020202020204" pitchFamily="49" charset="0"/>
              </a:rPr>
              <a:t>drop=True</a:t>
            </a:r>
            <a:r>
              <a:rPr lang="en-US" dirty="0"/>
              <a:t> to avoid adding the old index as a column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df.reset_index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=True, drop=True)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61EF-09DE-EB93-60CE-A42CBB9B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Reordering Columns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06BD9-8E89-3843-DECC-43EA57E4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>
                <a:latin typeface="Aptos Mono" panose="020B0009020202020204" pitchFamily="49" charset="0"/>
              </a:rPr>
              <a:t>DataFrame.reindex</a:t>
            </a:r>
            <a:r>
              <a:rPr lang="en-US" dirty="0">
                <a:latin typeface="Aptos Mono" panose="020B0009020202020204" pitchFamily="49" charset="0"/>
              </a:rPr>
              <a:t>()</a:t>
            </a:r>
            <a:r>
              <a:rPr lang="en-US" dirty="0"/>
              <a:t> to change the order of columns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df.reindex</a:t>
            </a:r>
            <a:r>
              <a:rPr lang="en-US" dirty="0">
                <a:latin typeface="Aptos Mono" panose="020B0009020202020204" pitchFamily="49" charset="0"/>
              </a:rPr>
              <a:t>(columns=['A', 'B', 'C'])</a:t>
            </a:r>
          </a:p>
          <a:p>
            <a:r>
              <a:rPr lang="en-US" dirty="0"/>
              <a:t>Alternatively, use direct reassignment with a list of column names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[['A', 'B', 'C']]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5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5000-1BD8-FE15-9246-D822F5D1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Columns and Rows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5A2D-B947-A500-B3A6-EA9884B34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 err="1">
                <a:latin typeface="Aptos Mono" panose="020B0009020202020204" pitchFamily="49" charset="0"/>
              </a:rPr>
              <a:t>DataFrame.rename</a:t>
            </a:r>
            <a:r>
              <a:rPr lang="en-US" b="1" dirty="0">
                <a:latin typeface="Aptos Mono" panose="020B0009020202020204" pitchFamily="49" charset="0"/>
              </a:rPr>
              <a:t>()</a:t>
            </a:r>
            <a:r>
              <a:rPr lang="en-US" dirty="0"/>
              <a:t> to rename specific columns.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df.rename</a:t>
            </a:r>
            <a:r>
              <a:rPr lang="en-US" dirty="0">
                <a:latin typeface="Aptos Mono" panose="020B0009020202020204" pitchFamily="49" charset="0"/>
              </a:rPr>
              <a:t>(columns={'</a:t>
            </a:r>
            <a:r>
              <a:rPr lang="en-US" dirty="0" err="1">
                <a:latin typeface="Aptos Mono" panose="020B0009020202020204" pitchFamily="49" charset="0"/>
              </a:rPr>
              <a:t>old_name</a:t>
            </a:r>
            <a:r>
              <a:rPr lang="en-US" dirty="0">
                <a:latin typeface="Aptos Mono" panose="020B0009020202020204" pitchFamily="49" charset="0"/>
              </a:rPr>
              <a:t>': '</a:t>
            </a:r>
            <a:r>
              <a:rPr lang="en-US" dirty="0" err="1">
                <a:latin typeface="Aptos Mono" panose="020B0009020202020204" pitchFamily="49" charset="0"/>
              </a:rPr>
              <a:t>new_name</a:t>
            </a:r>
            <a:r>
              <a:rPr lang="en-US" dirty="0">
                <a:latin typeface="Aptos Mono" panose="020B0009020202020204" pitchFamily="49" charset="0"/>
              </a:rPr>
              <a:t>'},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Also use </a:t>
            </a:r>
            <a:r>
              <a:rPr lang="en-US" b="1" dirty="0" err="1">
                <a:latin typeface="Aptos Mono" panose="020B0009020202020204" pitchFamily="49" charset="0"/>
              </a:rPr>
              <a:t>DataFrame.rename</a:t>
            </a:r>
            <a:r>
              <a:rPr lang="en-US" b="1" dirty="0">
                <a:latin typeface="Aptos Mono" panose="020B0009020202020204" pitchFamily="49" charset="0"/>
              </a:rPr>
              <a:t>()</a:t>
            </a:r>
            <a:r>
              <a:rPr lang="en-US" dirty="0"/>
              <a:t> to rename index (row) labels.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df.rename</a:t>
            </a:r>
            <a:r>
              <a:rPr lang="en-US" dirty="0">
                <a:latin typeface="Aptos Mono" panose="020B0009020202020204" pitchFamily="49" charset="0"/>
              </a:rPr>
              <a:t>(index={0: '</a:t>
            </a:r>
            <a:r>
              <a:rPr lang="en-US" dirty="0" err="1">
                <a:latin typeface="Aptos Mono" panose="020B0009020202020204" pitchFamily="49" charset="0"/>
              </a:rPr>
              <a:t>new_row_name</a:t>
            </a:r>
            <a:r>
              <a:rPr lang="en-US" dirty="0">
                <a:latin typeface="Aptos Mono" panose="020B0009020202020204" pitchFamily="49" charset="0"/>
              </a:rPr>
              <a:t>'},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b="1" dirty="0"/>
              <a:t>Renaming All Columns</a:t>
            </a:r>
            <a:r>
              <a:rPr lang="en-US" dirty="0"/>
              <a:t>: Assign a new list of names to .columns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df.columns</a:t>
            </a:r>
            <a:r>
              <a:rPr lang="en-US" dirty="0">
                <a:latin typeface="Aptos Mono" panose="020B0009020202020204" pitchFamily="49" charset="0"/>
              </a:rPr>
              <a:t> = ['new_col1', 'new_col2', 'new_col3']</a:t>
            </a:r>
          </a:p>
          <a:p>
            <a:endParaRPr lang="en-US" dirty="0">
              <a:latin typeface="Aptos Mono" panose="020B0009020202020204" pitchFamily="49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1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A5C4-4399-06B7-F8FD-5FDDB29C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Two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CB74-2813-E52B-A0F4-678935828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40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3EC6-09CA-B6A2-6818-1B33B68F8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merge datasets?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B0E7-9FCF-63AE-ADAB-957FC74AC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Case Study: Analyzing Marathon Performance vs. Weather</a:t>
            </a:r>
          </a:p>
          <a:p>
            <a:r>
              <a:rPr lang="en-US" b="1" dirty="0"/>
              <a:t>Purpose</a:t>
            </a:r>
            <a:r>
              <a:rPr lang="en-US" dirty="0"/>
              <a:t>: Understand how weather impacts marathon times.</a:t>
            </a:r>
          </a:p>
          <a:p>
            <a:r>
              <a:rPr lang="en-US" b="1" dirty="0"/>
              <a:t>Data Merging</a:t>
            </a:r>
            <a:r>
              <a:rPr lang="en-US" dirty="0"/>
              <a:t>: Combine race results with weather conditions on the same date and location.</a:t>
            </a:r>
          </a:p>
          <a:p>
            <a:r>
              <a:rPr lang="en-US" b="1" dirty="0"/>
              <a:t>Application</a:t>
            </a:r>
            <a:r>
              <a:rPr lang="en-US" dirty="0"/>
              <a:t>: Helps athletes and coaches strategize based on typical weather patterns. Organizers can also schedule events during ideal weather conditions for optimal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1642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7E8CDF-4AB6-8A4D-F525-BEBDF829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345" y="0"/>
            <a:ext cx="7121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59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984F-7B66-8549-65D0-8421EBD9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Merge Datasets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EB9D-476E-AAFE-F600-3B9C5AB24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Identify Key Columns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Determine which column(s) both datasets share, often used as identifiers.</a:t>
            </a:r>
          </a:p>
          <a:p>
            <a:r>
              <a:rPr lang="en-US" b="1" dirty="0"/>
              <a:t>Prepare </a:t>
            </a:r>
            <a:r>
              <a:rPr lang="en-US" b="1" dirty="0" err="1"/>
              <a:t>DataFrames</a:t>
            </a:r>
            <a:endParaRPr lang="en-US" b="1" dirty="0"/>
          </a:p>
          <a:p>
            <a:pPr marL="457200" lvl="1" indent="0">
              <a:buNone/>
            </a:pPr>
            <a:r>
              <a:rPr lang="en-US" dirty="0"/>
              <a:t>Ensure the key columns have matching data types and no missing values.</a:t>
            </a:r>
          </a:p>
          <a:p>
            <a:r>
              <a:rPr lang="en-US" b="1" dirty="0"/>
              <a:t>Use </a:t>
            </a:r>
            <a:r>
              <a:rPr lang="en-US" b="1" dirty="0" err="1">
                <a:latin typeface="Aptos Mono" panose="020B0009020202020204" pitchFamily="49" charset="0"/>
              </a:rPr>
              <a:t>pd.merge</a:t>
            </a:r>
            <a:r>
              <a:rPr lang="en-US" b="1" dirty="0">
                <a:latin typeface="Aptos Mono" panose="020B00090202020202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dirty="0"/>
              <a:t>Merge the </a:t>
            </a:r>
            <a:r>
              <a:rPr lang="en-US" dirty="0" err="1"/>
              <a:t>DataFrames</a:t>
            </a:r>
            <a:r>
              <a:rPr lang="en-US" dirty="0"/>
              <a:t> using the shared key column.</a:t>
            </a:r>
          </a:p>
          <a:p>
            <a:r>
              <a:rPr lang="en-US" b="1" dirty="0"/>
              <a:t>Set Parameters</a:t>
            </a:r>
          </a:p>
          <a:p>
            <a:pPr marL="457200" lvl="1" indent="0">
              <a:buNone/>
            </a:pPr>
            <a:r>
              <a:rPr lang="en-US" dirty="0"/>
              <a:t>Specify </a:t>
            </a:r>
            <a:r>
              <a:rPr lang="en-US" dirty="0">
                <a:latin typeface="Aptos Mono" panose="020B0009020202020204" pitchFamily="49" charset="0"/>
              </a:rPr>
              <a:t>on='</a:t>
            </a:r>
            <a:r>
              <a:rPr lang="en-US" dirty="0" err="1">
                <a:latin typeface="Aptos Mono" panose="020B0009020202020204" pitchFamily="49" charset="0"/>
              </a:rPr>
              <a:t>key_column</a:t>
            </a:r>
            <a:r>
              <a:rPr lang="en-US" dirty="0">
                <a:latin typeface="Aptos Mono" panose="020B0009020202020204" pitchFamily="49" charset="0"/>
              </a:rPr>
              <a:t>'</a:t>
            </a:r>
            <a:r>
              <a:rPr lang="en-US" dirty="0"/>
              <a:t> to define which column to merge 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DCCF2-AB1E-B006-B478-6B8CD6D054B2}"/>
              </a:ext>
            </a:extLst>
          </p:cNvPr>
          <p:cNvSpPr txBox="1"/>
          <p:nvPr/>
        </p:nvSpPr>
        <p:spPr>
          <a:xfrm>
            <a:off x="613410" y="5715298"/>
            <a:ext cx="1096518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Aptos Mono" panose="020B0009020202020204" pitchFamily="49" charset="0"/>
              </a:rPr>
              <a:t>merged_data</a:t>
            </a:r>
            <a:r>
              <a:rPr lang="en-US" sz="2400" dirty="0">
                <a:latin typeface="Aptos Mono" panose="020B0009020202020204" pitchFamily="49" charset="0"/>
              </a:rPr>
              <a:t> = </a:t>
            </a:r>
            <a:r>
              <a:rPr lang="en-US" sz="2400" dirty="0" err="1">
                <a:latin typeface="Aptos Mono" panose="020B0009020202020204" pitchFamily="49" charset="0"/>
              </a:rPr>
              <a:t>marathon_data.merge</a:t>
            </a:r>
            <a:r>
              <a:rPr lang="en-US" sz="2400" dirty="0">
                <a:latin typeface="Aptos Mono" panose="020B0009020202020204" pitchFamily="49" charset="0"/>
              </a:rPr>
              <a:t>(</a:t>
            </a:r>
            <a:r>
              <a:rPr lang="en-US" sz="2400" dirty="0" err="1">
                <a:latin typeface="Aptos Mono" panose="020B0009020202020204" pitchFamily="49" charset="0"/>
              </a:rPr>
              <a:t>weather_data</a:t>
            </a:r>
            <a:r>
              <a:rPr lang="en-US" sz="2400" dirty="0">
                <a:latin typeface="Aptos Mono" panose="020B0009020202020204" pitchFamily="49" charset="0"/>
              </a:rPr>
              <a:t>, on='Date')</a:t>
            </a:r>
          </a:p>
        </p:txBody>
      </p:sp>
    </p:spTree>
    <p:extLst>
      <p:ext uri="{BB962C8B-B14F-4D97-AF65-F5344CB8AC3E}">
        <p14:creationId xmlns:p14="http://schemas.microsoft.com/office/powerpoint/2010/main" val="242492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F7D3-56DA-1CFF-72D5-BDF41D3C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merges (database joins)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38629C-1582-EBA9-50FD-6A9999C139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E06AE-6C47-34FD-5778-655A77741174}"/>
              </a:ext>
            </a:extLst>
          </p:cNvPr>
          <p:cNvSpPr txBox="1"/>
          <p:nvPr/>
        </p:nvSpPr>
        <p:spPr>
          <a:xfrm>
            <a:off x="2454116" y="6311900"/>
            <a:ext cx="7283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learnsql.com</a:t>
            </a:r>
            <a:r>
              <a:rPr lang="en-US" sz="1400" dirty="0"/>
              <a:t>/blog/learn-and-practice-</a:t>
            </a:r>
            <a:r>
              <a:rPr lang="en-US" sz="1400" dirty="0" err="1"/>
              <a:t>sql</a:t>
            </a:r>
            <a:r>
              <a:rPr lang="en-US" sz="1400" dirty="0"/>
              <a:t>-joins/learn-and-practice-</a:t>
            </a:r>
            <a:r>
              <a:rPr lang="en-US" sz="1400" dirty="0" err="1"/>
              <a:t>sql</a:t>
            </a:r>
            <a:r>
              <a:rPr lang="en-US" sz="1400" dirty="0"/>
              <a:t>-</a:t>
            </a:r>
            <a:r>
              <a:rPr lang="en-US" sz="1400" dirty="0" err="1"/>
              <a:t>joins.webp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66865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09FE-1767-039E-5B4F-6CF1A8BD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5"/>
            <a:ext cx="10805160" cy="1325563"/>
          </a:xfrm>
        </p:spPr>
        <p:txBody>
          <a:bodyPr/>
          <a:lstStyle/>
          <a:p>
            <a:r>
              <a:rPr lang="en-US" dirty="0"/>
              <a:t>Types of Joins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ADD1-EF3A-C9A9-D75F-D80490673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825625"/>
            <a:ext cx="115443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INNER: merges only rows that have matching values in both </a:t>
            </a:r>
            <a:r>
              <a:rPr lang="en-US" b="1" dirty="0" err="1"/>
              <a:t>DataFrames</a:t>
            </a:r>
            <a:endParaRPr lang="en-US" b="1" dirty="0"/>
          </a:p>
          <a:p>
            <a:pPr marL="457200" lvl="1" indent="0">
              <a:buNone/>
            </a:pPr>
            <a:r>
              <a:rPr lang="en-US" sz="2600" dirty="0">
                <a:latin typeface="Aptos Mono" panose="020B0009020202020204" pitchFamily="49" charset="0"/>
              </a:rPr>
              <a:t>merged = df1.merge(df2, on='Key', </a:t>
            </a:r>
            <a:r>
              <a:rPr lang="en-US" sz="2600" b="1" dirty="0">
                <a:solidFill>
                  <a:srgbClr val="C00000"/>
                </a:solidFill>
                <a:latin typeface="Aptos Mono" panose="020B0009020202020204" pitchFamily="49" charset="0"/>
              </a:rPr>
              <a:t>how='inner'</a:t>
            </a:r>
            <a:r>
              <a:rPr lang="en-US" sz="2600" dirty="0">
                <a:latin typeface="Aptos Mono" panose="020B0009020202020204" pitchFamily="49" charset="0"/>
              </a:rPr>
              <a:t>) </a:t>
            </a:r>
          </a:p>
          <a:p>
            <a:r>
              <a:rPr lang="en-US" b="1" dirty="0"/>
              <a:t>LEFT: includes all rows from the left DF and matched rows from right DF</a:t>
            </a:r>
          </a:p>
          <a:p>
            <a:pPr marL="457200" lvl="1" indent="0">
              <a:buNone/>
            </a:pPr>
            <a:r>
              <a:rPr lang="en-US" sz="2600" dirty="0">
                <a:latin typeface="Aptos Mono" panose="020B0009020202020204" pitchFamily="49" charset="0"/>
              </a:rPr>
              <a:t>merged = df1.merge(df2, on='Key', </a:t>
            </a:r>
            <a:r>
              <a:rPr lang="en-US" sz="2600" b="1" dirty="0">
                <a:solidFill>
                  <a:srgbClr val="C00000"/>
                </a:solidFill>
                <a:latin typeface="Aptos Mono" panose="020B0009020202020204" pitchFamily="49" charset="0"/>
              </a:rPr>
              <a:t>how='left'</a:t>
            </a:r>
            <a:r>
              <a:rPr lang="en-US" sz="2600" dirty="0">
                <a:latin typeface="Aptos Mono" panose="020B0009020202020204" pitchFamily="49" charset="0"/>
              </a:rPr>
              <a:t>) </a:t>
            </a:r>
          </a:p>
          <a:p>
            <a:r>
              <a:rPr lang="en-US" b="1" dirty="0"/>
              <a:t>RIGHT: includes all rows from right DF and matched rows from left DF </a:t>
            </a:r>
          </a:p>
          <a:p>
            <a:pPr marL="457200" lvl="1" indent="0">
              <a:buNone/>
            </a:pPr>
            <a:r>
              <a:rPr lang="en-US" sz="2600" dirty="0">
                <a:latin typeface="Aptos Mono" panose="020B0009020202020204" pitchFamily="49" charset="0"/>
              </a:rPr>
              <a:t>merged = df1.merge(df2, on='Key', </a:t>
            </a:r>
            <a:r>
              <a:rPr lang="en-US" sz="2600" b="1" dirty="0">
                <a:solidFill>
                  <a:srgbClr val="C00000"/>
                </a:solidFill>
                <a:latin typeface="Aptos Mono" panose="020B0009020202020204" pitchFamily="49" charset="0"/>
              </a:rPr>
              <a:t>how='right'</a:t>
            </a:r>
            <a:r>
              <a:rPr lang="en-US" sz="2600" dirty="0">
                <a:latin typeface="Aptos Mono" panose="020B0009020202020204" pitchFamily="49" charset="0"/>
              </a:rPr>
              <a:t>) </a:t>
            </a:r>
          </a:p>
          <a:p>
            <a:r>
              <a:rPr lang="en-US" b="1" dirty="0"/>
              <a:t>OUTER: Combines all rows from both DFs:  </a:t>
            </a:r>
            <a:r>
              <a:rPr lang="en-US" dirty="0"/>
              <a:t>Fills in </a:t>
            </a:r>
            <a:r>
              <a:rPr lang="en-US" b="1" dirty="0" err="1">
                <a:solidFill>
                  <a:srgbClr val="C00000"/>
                </a:solidFill>
              </a:rPr>
              <a:t>NaN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when no match</a:t>
            </a:r>
          </a:p>
          <a:p>
            <a:pPr marL="457200" lvl="1" indent="0">
              <a:buNone/>
            </a:pPr>
            <a:r>
              <a:rPr lang="en-US" sz="2600" dirty="0">
                <a:latin typeface="Aptos Mono" panose="020B0009020202020204" pitchFamily="49" charset="0"/>
              </a:rPr>
              <a:t>merged = df1.merge(df2, on='Key', </a:t>
            </a:r>
            <a:r>
              <a:rPr lang="en-US" sz="2600" b="1" dirty="0">
                <a:solidFill>
                  <a:srgbClr val="C00000"/>
                </a:solidFill>
                <a:latin typeface="Aptos Mono" panose="020B0009020202020204" pitchFamily="49" charset="0"/>
              </a:rPr>
              <a:t>how='outer'</a:t>
            </a:r>
            <a:r>
              <a:rPr lang="en-US" sz="2600" dirty="0">
                <a:latin typeface="Aptos Mono" panose="020B0009020202020204" pitchFamily="49" charset="0"/>
              </a:rPr>
              <a:t>)</a:t>
            </a:r>
          </a:p>
          <a:p>
            <a:endParaRPr lang="en-US" sz="2600" dirty="0"/>
          </a:p>
          <a:p>
            <a:pPr marL="0" indent="0" algn="ctr">
              <a:buNone/>
            </a:pPr>
            <a:r>
              <a:rPr lang="en-US" sz="2400" b="1" dirty="0"/>
              <a:t>Note: </a:t>
            </a:r>
            <a:r>
              <a:rPr lang="en-US" sz="2400" b="1" dirty="0" err="1">
                <a:solidFill>
                  <a:srgbClr val="C00000"/>
                </a:solidFill>
              </a:rPr>
              <a:t>NaN</a:t>
            </a:r>
            <a:r>
              <a:rPr lang="en-US" sz="2400" b="1" dirty="0">
                <a:solidFill>
                  <a:srgbClr val="C00000"/>
                </a:solidFill>
              </a:rPr>
              <a:t> values are filled in where there are no matches</a:t>
            </a:r>
            <a:r>
              <a:rPr lang="en-US" sz="2400" b="1" dirty="0"/>
              <a:t> for left, right, and outer joins!!!</a:t>
            </a:r>
            <a:endParaRPr lang="en-US" sz="2400" b="1" dirty="0"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6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37E831-BC90-2B40-52B7-4027BAAA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50" y="-12700"/>
            <a:ext cx="7708900" cy="3441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9146D-30BC-25E0-9DF4-74B1F575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2" y="3563849"/>
            <a:ext cx="6036438" cy="26627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0706E2-0AAB-0BCE-13A8-B44604206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049" y="3563849"/>
            <a:ext cx="5822951" cy="28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56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B942-88ED-2A82-FEF4-F46BA816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for Merging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18CB-7C79-999B-F940-06CD4958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4740" cy="4351338"/>
          </a:xfrm>
        </p:spPr>
        <p:txBody>
          <a:bodyPr>
            <a:normAutofit/>
          </a:bodyPr>
          <a:lstStyle/>
          <a:p>
            <a:r>
              <a:rPr lang="en-US" b="1" dirty="0"/>
              <a:t>Data Types</a:t>
            </a:r>
            <a:r>
              <a:rPr lang="en-US" dirty="0"/>
              <a:t>: Ensure key columns have the same data type.</a:t>
            </a:r>
          </a:p>
          <a:p>
            <a:pPr marL="457200" lvl="1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df1['Key'] = df1['Key'].</a:t>
            </a:r>
            <a:r>
              <a:rPr lang="en-US" sz="2000" dirty="0" err="1">
                <a:latin typeface="Aptos Mono" panose="020B0009020202020204" pitchFamily="49" charset="0"/>
              </a:rPr>
              <a:t>astype</a:t>
            </a:r>
            <a:r>
              <a:rPr lang="en-US" sz="2000" dirty="0">
                <a:latin typeface="Aptos Mono" panose="020B0009020202020204" pitchFamily="49" charset="0"/>
              </a:rPr>
              <a:t>(str)</a:t>
            </a:r>
          </a:p>
          <a:p>
            <a:pPr marL="457200" lvl="1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df2['Key'] = df2['Key'].</a:t>
            </a:r>
            <a:r>
              <a:rPr lang="en-US" sz="2000" dirty="0" err="1">
                <a:latin typeface="Aptos Mono" panose="020B0009020202020204" pitchFamily="49" charset="0"/>
              </a:rPr>
              <a:t>astype</a:t>
            </a:r>
            <a:r>
              <a:rPr lang="en-US" sz="2000" dirty="0">
                <a:latin typeface="Aptos Mono" panose="020B0009020202020204" pitchFamily="49" charset="0"/>
              </a:rPr>
              <a:t>(str)</a:t>
            </a:r>
          </a:p>
          <a:p>
            <a:r>
              <a:rPr lang="en-US" b="1" dirty="0"/>
              <a:t>Duplicate Keys</a:t>
            </a:r>
            <a:r>
              <a:rPr lang="en-US" dirty="0"/>
              <a:t>: Check for duplicates in key cols before merging.</a:t>
            </a:r>
            <a:r>
              <a:rPr lang="en-US" b="1" dirty="0"/>
              <a:t> </a:t>
            </a:r>
          </a:p>
          <a:p>
            <a:pPr marL="457200" lvl="1" indent="0">
              <a:buNone/>
            </a:pPr>
            <a:r>
              <a:rPr lang="en-US" dirty="0">
                <a:latin typeface="Aptos Mono" panose="020B0009020202020204" pitchFamily="49" charset="0"/>
              </a:rPr>
              <a:t>df1.drop_duplicates(subset='Key',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  <a:endParaRPr lang="en-US" b="1" dirty="0">
              <a:latin typeface="Aptos Mono" panose="020B0009020202020204" pitchFamily="49" charset="0"/>
            </a:endParaRPr>
          </a:p>
          <a:p>
            <a:r>
              <a:rPr lang="en-US" b="1" dirty="0"/>
              <a:t>Duplicate Column Names</a:t>
            </a:r>
            <a:r>
              <a:rPr lang="en-US" dirty="0"/>
              <a:t>: When column names overlap, </a:t>
            </a:r>
            <a:br>
              <a:rPr lang="en-US" dirty="0"/>
            </a:br>
            <a:r>
              <a:rPr lang="en-US" dirty="0"/>
              <a:t>Pandas adds suffixes (_x and _y) to differentiate.</a:t>
            </a:r>
          </a:p>
          <a:p>
            <a:pPr marL="457200" lvl="1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df1 = df1.merge(df2, on='Key', </a:t>
            </a:r>
            <a:r>
              <a:rPr lang="en-US" sz="2000" strike="sngStrike" dirty="0" err="1">
                <a:latin typeface="Aptos Mono" panose="020B0009020202020204" pitchFamily="49" charset="0"/>
              </a:rPr>
              <a:t>inplace</a:t>
            </a:r>
            <a:r>
              <a:rPr lang="en-US" sz="2000" strike="sngStrike" dirty="0">
                <a:latin typeface="Aptos Mono" panose="020B0009020202020204" pitchFamily="49" charset="0"/>
              </a:rPr>
              <a:t>=True,</a:t>
            </a:r>
            <a:r>
              <a:rPr lang="en-US" sz="2000" dirty="0">
                <a:latin typeface="Aptos Mono" panose="020B0009020202020204" pitchFamily="49" charset="0"/>
              </a:rPr>
              <a:t>  </a:t>
            </a:r>
            <a:r>
              <a:rPr lang="en-US" sz="2000" dirty="0">
                <a:solidFill>
                  <a:srgbClr val="0070C0"/>
                </a:solidFill>
                <a:latin typeface="Aptos Mono" panose="020B0009020202020204" pitchFamily="49" charset="0"/>
              </a:rPr>
              <a:t># nope, doesn't work!</a:t>
            </a:r>
          </a:p>
          <a:p>
            <a:pPr marL="457200" lvl="1" indent="0">
              <a:buNone/>
            </a:pPr>
            <a:r>
              <a:rPr lang="en-US" sz="2000" dirty="0">
                <a:latin typeface="Aptos Mono" panose="020B0009020202020204" pitchFamily="49" charset="0"/>
              </a:rPr>
              <a:t>                </a:t>
            </a:r>
            <a:r>
              <a:rPr lang="en-US" sz="2000" b="1" dirty="0">
                <a:solidFill>
                  <a:srgbClr val="C00000"/>
                </a:solidFill>
                <a:latin typeface="Aptos Mono" panose="020B0009020202020204" pitchFamily="49" charset="0"/>
              </a:rPr>
              <a:t>suffixes=('_left', '_right')</a:t>
            </a:r>
            <a:r>
              <a:rPr lang="en-US" sz="2000" dirty="0">
                <a:latin typeface="Aptos Mono" panose="020B0009020202020204" pitchFamily="49" charset="0"/>
              </a:rPr>
              <a:t>)</a:t>
            </a:r>
          </a:p>
          <a:p>
            <a:r>
              <a:rPr lang="en-US" b="1" dirty="0"/>
              <a:t>Merge Order</a:t>
            </a:r>
            <a:r>
              <a:rPr lang="en-US" dirty="0"/>
              <a:t>: DF order affects output, esp. in left and right joins.</a:t>
            </a:r>
          </a:p>
        </p:txBody>
      </p:sp>
    </p:spTree>
    <p:extLst>
      <p:ext uri="{BB962C8B-B14F-4D97-AF65-F5344CB8AC3E}">
        <p14:creationId xmlns:p14="http://schemas.microsoft.com/office/powerpoint/2010/main" val="377567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D60-1515-7024-0D25-99D160B3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Update, Insert, and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60F40-8C9C-1AA5-A0FE-66F7FE5E8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1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0A2F-958E-59FD-F8FA-97041D29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or Deleting a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476CD-C54D-2FAD-476E-3D8B44168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Insert a Column</a:t>
            </a:r>
            <a:r>
              <a:rPr lang="en-US" dirty="0"/>
              <a:t>: Use </a:t>
            </a:r>
            <a:r>
              <a:rPr lang="en-US" b="1" dirty="0">
                <a:solidFill>
                  <a:srgbClr val="C00000"/>
                </a:solidFill>
              </a:rPr>
              <a:t>.insert()</a:t>
            </a:r>
            <a:r>
              <a:rPr lang="en-US" dirty="0"/>
              <a:t> to add a new column at a </a:t>
            </a:r>
            <a:r>
              <a:rPr lang="en-US" b="1" dirty="0"/>
              <a:t>location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df.insert</a:t>
            </a:r>
            <a:r>
              <a:rPr lang="en-US" dirty="0">
                <a:latin typeface="Aptos Mono" panose="020B0009020202020204" pitchFamily="49" charset="0"/>
              </a:rPr>
              <a:t>(loc=1, column='</a:t>
            </a:r>
            <a:r>
              <a:rPr lang="en-US" dirty="0" err="1">
                <a:latin typeface="Aptos Mono" panose="020B0009020202020204" pitchFamily="49" charset="0"/>
              </a:rPr>
              <a:t>new_column</a:t>
            </a:r>
            <a:r>
              <a:rPr lang="en-US" dirty="0">
                <a:latin typeface="Aptos Mono" panose="020B0009020202020204" pitchFamily="49" charset="0"/>
              </a:rPr>
              <a:t>', value=</a:t>
            </a:r>
            <a:r>
              <a:rPr lang="en-US" dirty="0" err="1">
                <a:latin typeface="Aptos Mono" panose="020B0009020202020204" pitchFamily="49" charset="0"/>
              </a:rPr>
              <a:t>my_series</a:t>
            </a:r>
            <a:r>
              <a:rPr lang="en-US" dirty="0">
                <a:latin typeface="Aptos Mono" panose="020B0009020202020204" pitchFamily="49" charset="0"/>
              </a:rPr>
              <a:t>)</a:t>
            </a:r>
          </a:p>
          <a:p>
            <a:r>
              <a:rPr lang="en-US" b="1" dirty="0"/>
              <a:t>Insert a Row</a:t>
            </a:r>
            <a:r>
              <a:rPr lang="en-US" dirty="0"/>
              <a:t>: Use 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b="1" dirty="0" err="1">
                <a:solidFill>
                  <a:srgbClr val="C00000"/>
                </a:solidFill>
              </a:rPr>
              <a:t>concat</a:t>
            </a:r>
            <a:r>
              <a:rPr lang="en-US" b="1" dirty="0">
                <a:solidFill>
                  <a:srgbClr val="C00000"/>
                </a:solidFill>
              </a:rPr>
              <a:t>()</a:t>
            </a:r>
            <a:r>
              <a:rPr lang="en-US" dirty="0"/>
              <a:t> to append a new row at the end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pd.concat</a:t>
            </a:r>
            <a:r>
              <a:rPr lang="en-US" dirty="0">
                <a:latin typeface="Aptos Mono" panose="020B0009020202020204" pitchFamily="49" charset="0"/>
              </a:rPr>
              <a:t>([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, </a:t>
            </a:r>
            <a:r>
              <a:rPr lang="en-US" dirty="0" err="1">
                <a:latin typeface="Aptos Mono" panose="020B0009020202020204" pitchFamily="49" charset="0"/>
              </a:rPr>
              <a:t>new_row</a:t>
            </a:r>
            <a:r>
              <a:rPr lang="en-US" dirty="0">
                <a:latin typeface="Aptos Mono" panose="020B0009020202020204" pitchFamily="49" charset="0"/>
              </a:rPr>
              <a:t>], </a:t>
            </a:r>
            <a:r>
              <a:rPr lang="en-US" dirty="0" err="1">
                <a:latin typeface="Aptos Mono" panose="020B0009020202020204" pitchFamily="49" charset="0"/>
              </a:rPr>
              <a:t>ignore_index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r>
              <a:rPr lang="en-US" b="1" dirty="0"/>
              <a:t>Delete a Column</a:t>
            </a:r>
            <a:r>
              <a:rPr lang="en-US" dirty="0"/>
              <a:t>: Use </a:t>
            </a:r>
            <a:r>
              <a:rPr lang="en-US" b="1" dirty="0">
                <a:solidFill>
                  <a:srgbClr val="C00000"/>
                </a:solidFill>
              </a:rPr>
              <a:t>.drop()</a:t>
            </a:r>
            <a:r>
              <a:rPr lang="en-US" dirty="0"/>
              <a:t> with </a:t>
            </a:r>
            <a:r>
              <a:rPr lang="en-US" b="1" dirty="0">
                <a:solidFill>
                  <a:srgbClr val="C00000"/>
                </a:solidFill>
              </a:rPr>
              <a:t>"columns="</a:t>
            </a:r>
            <a:r>
              <a:rPr lang="en-US" dirty="0"/>
              <a:t> to drop a column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df.drop</a:t>
            </a:r>
            <a:r>
              <a:rPr lang="en-US" dirty="0">
                <a:latin typeface="Aptos Mono" panose="020B0009020202020204" pitchFamily="49" charset="0"/>
              </a:rPr>
              <a:t>(columns='</a:t>
            </a:r>
            <a:r>
              <a:rPr lang="en-US" dirty="0" err="1">
                <a:latin typeface="Aptos Mono" panose="020B0009020202020204" pitchFamily="49" charset="0"/>
              </a:rPr>
              <a:t>column_name</a:t>
            </a:r>
            <a:r>
              <a:rPr lang="en-US" dirty="0">
                <a:latin typeface="Aptos Mono" panose="020B0009020202020204" pitchFamily="49" charset="0"/>
              </a:rPr>
              <a:t>',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r>
              <a:rPr lang="en-US" b="1" dirty="0"/>
              <a:t>Delete a Row</a:t>
            </a:r>
            <a:r>
              <a:rPr lang="en-US" dirty="0"/>
              <a:t>: Use </a:t>
            </a:r>
            <a:r>
              <a:rPr lang="en-US" b="1" dirty="0">
                <a:solidFill>
                  <a:srgbClr val="C00000"/>
                </a:solidFill>
              </a:rPr>
              <a:t>.drop()</a:t>
            </a:r>
            <a:r>
              <a:rPr lang="en-US" dirty="0"/>
              <a:t> with the </a:t>
            </a:r>
            <a:r>
              <a:rPr lang="en-US" b="1" dirty="0">
                <a:solidFill>
                  <a:srgbClr val="C00000"/>
                </a:solidFill>
              </a:rPr>
              <a:t>index</a:t>
            </a:r>
            <a:r>
              <a:rPr lang="en-US" dirty="0"/>
              <a:t> to remove a row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df.drop</a:t>
            </a:r>
            <a:r>
              <a:rPr lang="en-US" dirty="0">
                <a:latin typeface="Aptos Mono" panose="020B0009020202020204" pitchFamily="49" charset="0"/>
              </a:rPr>
              <a:t>(index=0,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  # Delete first row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91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DFAF-D8D6-0146-E125-8CCE7739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values by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1E393-FBFD-ABC4-49AD-782A75833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4331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Assignment</a:t>
            </a:r>
            <a:r>
              <a:rPr lang="en-US" dirty="0"/>
              <a:t>: Change specific items, columns, or ranges in DF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400" dirty="0" err="1">
                <a:latin typeface="Aptos Mono" panose="020B0009020202020204" pitchFamily="49" charset="0"/>
              </a:rPr>
              <a:t>df</a:t>
            </a:r>
            <a:r>
              <a:rPr lang="en-US" sz="2400" dirty="0">
                <a:latin typeface="Aptos Mono" panose="020B0009020202020204" pitchFamily="49" charset="0"/>
              </a:rPr>
              <a:t>['</a:t>
            </a:r>
            <a:r>
              <a:rPr lang="en-US" sz="2400" dirty="0" err="1">
                <a:latin typeface="Aptos Mono" panose="020B0009020202020204" pitchFamily="49" charset="0"/>
              </a:rPr>
              <a:t>column_name</a:t>
            </a:r>
            <a:r>
              <a:rPr lang="en-US" sz="2400" dirty="0">
                <a:latin typeface="Aptos Mono" panose="020B0009020202020204" pitchFamily="49" charset="0"/>
              </a:rPr>
              <a:t>'] = </a:t>
            </a:r>
            <a:r>
              <a:rPr lang="en-US" sz="2400" dirty="0" err="1">
                <a:latin typeface="Aptos Mono" panose="020B0009020202020204" pitchFamily="49" charset="0"/>
              </a:rPr>
              <a:t>new_value</a:t>
            </a:r>
            <a:r>
              <a:rPr lang="en-US" sz="2400" dirty="0">
                <a:latin typeface="Aptos Mono" panose="020B0009020202020204" pitchFamily="49" charset="0"/>
              </a:rPr>
              <a:t>  # Update entire column</a:t>
            </a:r>
          </a:p>
          <a:p>
            <a:pPr marL="0" indent="0">
              <a:buNone/>
            </a:pPr>
            <a:r>
              <a:rPr lang="en-US" sz="2400" dirty="0" err="1">
                <a:latin typeface="Aptos Mono" panose="020B0009020202020204" pitchFamily="49" charset="0"/>
              </a:rPr>
              <a:t>df.loc</a:t>
            </a:r>
            <a:r>
              <a:rPr lang="en-US" sz="2400" dirty="0">
                <a:latin typeface="Aptos Mono" panose="020B0009020202020204" pitchFamily="49" charset="0"/>
              </a:rPr>
              <a:t>[2, '</a:t>
            </a:r>
            <a:r>
              <a:rPr lang="en-US" sz="2400" dirty="0" err="1">
                <a:latin typeface="Aptos Mono" panose="020B0009020202020204" pitchFamily="49" charset="0"/>
              </a:rPr>
              <a:t>column_name</a:t>
            </a:r>
            <a:r>
              <a:rPr lang="en-US" sz="2400" dirty="0">
                <a:latin typeface="Aptos Mono" panose="020B0009020202020204" pitchFamily="49" charset="0"/>
              </a:rPr>
              <a:t>'] = </a:t>
            </a:r>
            <a:r>
              <a:rPr lang="en-US" sz="2400" dirty="0" err="1">
                <a:latin typeface="Aptos Mono" panose="020B0009020202020204" pitchFamily="49" charset="0"/>
              </a:rPr>
              <a:t>new_value</a:t>
            </a:r>
            <a:r>
              <a:rPr lang="en-US" sz="2400" dirty="0">
                <a:latin typeface="Aptos Mono" panose="020B0009020202020204" pitchFamily="49" charset="0"/>
              </a:rPr>
              <a:t>  # Update specific item</a:t>
            </a:r>
          </a:p>
          <a:p>
            <a:pPr marL="0" indent="0">
              <a:buNone/>
            </a:pPr>
            <a:r>
              <a:rPr lang="en-US" sz="2400" dirty="0" err="1">
                <a:latin typeface="Aptos Mono" panose="020B0009020202020204" pitchFamily="49" charset="0"/>
              </a:rPr>
              <a:t>df.loc</a:t>
            </a:r>
            <a:r>
              <a:rPr lang="en-US" sz="2400" dirty="0">
                <a:latin typeface="Aptos Mono" panose="020B0009020202020204" pitchFamily="49" charset="0"/>
              </a:rPr>
              <a:t>[0:2, '</a:t>
            </a:r>
            <a:r>
              <a:rPr lang="en-US" sz="2400" dirty="0" err="1">
                <a:latin typeface="Aptos Mono" panose="020B0009020202020204" pitchFamily="49" charset="0"/>
              </a:rPr>
              <a:t>column_name</a:t>
            </a:r>
            <a:r>
              <a:rPr lang="en-US" sz="2400" dirty="0">
                <a:latin typeface="Aptos Mono" panose="020B0009020202020204" pitchFamily="49" charset="0"/>
              </a:rPr>
              <a:t>'] = </a:t>
            </a:r>
            <a:r>
              <a:rPr lang="en-US" sz="2400" dirty="0" err="1">
                <a:latin typeface="Aptos Mono" panose="020B0009020202020204" pitchFamily="49" charset="0"/>
              </a:rPr>
              <a:t>new_value</a:t>
            </a:r>
            <a:r>
              <a:rPr lang="en-US" sz="2400" dirty="0">
                <a:latin typeface="Aptos Mono" panose="020B0009020202020204" pitchFamily="49" charset="0"/>
              </a:rPr>
              <a:t>  # Update a range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019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093C-5816-4809-D9FC-4B7A05A1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Replacement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87D0A-A999-BBBC-51DC-66246E63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b="1" dirty="0"/>
              <a:t>Using </a:t>
            </a:r>
            <a:r>
              <a:rPr lang="en-US" b="1" dirty="0" err="1"/>
              <a:t>np.where</a:t>
            </a:r>
            <a:r>
              <a:rPr lang="en-US" b="1" dirty="0"/>
              <a:t>()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</a:t>
            </a:r>
            <a:r>
              <a:rPr lang="en-US" dirty="0" err="1">
                <a:latin typeface="Aptos Mono" panose="020B0009020202020204" pitchFamily="49" charset="0"/>
              </a:rPr>
              <a:t>new_col</a:t>
            </a:r>
            <a:r>
              <a:rPr lang="en-US" dirty="0">
                <a:latin typeface="Aptos Mono" panose="020B0009020202020204" pitchFamily="49" charset="0"/>
              </a:rPr>
              <a:t>'] = </a:t>
            </a:r>
            <a:r>
              <a:rPr lang="en-US" dirty="0" err="1">
                <a:latin typeface="Aptos Mono" panose="020B0009020202020204" pitchFamily="49" charset="0"/>
              </a:rPr>
              <a:t>np.where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 &gt; 10, 0,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['col'])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final_df</a:t>
            </a:r>
            <a:r>
              <a:rPr lang="en-US" dirty="0">
                <a:latin typeface="Aptos Mono" panose="020B0009020202020204" pitchFamily="49" charset="0"/>
              </a:rPr>
              <a:t> = </a:t>
            </a:r>
            <a:r>
              <a:rPr lang="en-US" dirty="0" err="1">
                <a:latin typeface="Aptos Mono" panose="020B0009020202020204" pitchFamily="49" charset="0"/>
              </a:rPr>
              <a:t>curved_df.where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curved_df</a:t>
            </a:r>
            <a:r>
              <a:rPr lang="en-US" dirty="0">
                <a:latin typeface="Aptos Mono" panose="020B0009020202020204" pitchFamily="49" charset="0"/>
              </a:rPr>
              <a:t> &gt;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,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) # </a:t>
            </a:r>
            <a:r>
              <a:rPr lang="en-US" dirty="0" err="1">
                <a:latin typeface="Aptos Mono" panose="020B0009020202020204" pitchFamily="49" charset="0"/>
              </a:rPr>
              <a:t>spongebob</a:t>
            </a:r>
            <a:endParaRPr lang="en-US" dirty="0">
              <a:latin typeface="Aptos Mono" panose="020B000902020202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b="1" dirty="0"/>
              <a:t>Using .mask()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 =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['col'].mask(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 &lt; 10, 0)</a:t>
            </a: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b="1" dirty="0"/>
              <a:t>Using .apply()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 = </a:t>
            </a: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['col'].apply(lambda x: 0 if x &lt; 10 else x)</a:t>
            </a:r>
          </a:p>
        </p:txBody>
      </p:sp>
    </p:spTree>
    <p:extLst>
      <p:ext uri="{BB962C8B-B14F-4D97-AF65-F5344CB8AC3E}">
        <p14:creationId xmlns:p14="http://schemas.microsoft.com/office/powerpoint/2010/main" val="381946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4798-58AC-E4FF-CD78-9D7D53FE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Conditional Replacement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A4D1-DCC7-37B0-E8F5-65C93CC0C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Using .replace() with a Dictionary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['col'].replace({10: 0},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b="1" dirty="0"/>
              <a:t>Using .</a:t>
            </a:r>
            <a:r>
              <a:rPr lang="en-US" b="1" dirty="0" err="1"/>
              <a:t>fillna</a:t>
            </a:r>
            <a:r>
              <a:rPr lang="en-US" b="1" dirty="0"/>
              <a:t>()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latin typeface="Aptos Mono" panose="020B0009020202020204" pitchFamily="49" charset="0"/>
              </a:rPr>
              <a:t>df</a:t>
            </a:r>
            <a:r>
              <a:rPr lang="en-US" dirty="0">
                <a:latin typeface="Aptos Mono" panose="020B0009020202020204" pitchFamily="49" charset="0"/>
              </a:rPr>
              <a:t>['col'].</a:t>
            </a:r>
            <a:r>
              <a:rPr lang="en-US" dirty="0" err="1">
                <a:latin typeface="Aptos Mono" panose="020B0009020202020204" pitchFamily="49" charset="0"/>
              </a:rPr>
              <a:t>fillna</a:t>
            </a:r>
            <a:r>
              <a:rPr lang="en-US" dirty="0">
                <a:latin typeface="Aptos Mono" panose="020B0009020202020204" pitchFamily="49" charset="0"/>
              </a:rPr>
              <a:t>(0, </a:t>
            </a:r>
            <a:r>
              <a:rPr lang="en-US" dirty="0" err="1">
                <a:latin typeface="Aptos Mono" panose="020B0009020202020204" pitchFamily="49" charset="0"/>
              </a:rPr>
              <a:t>inplace</a:t>
            </a:r>
            <a:r>
              <a:rPr lang="en-US" dirty="0">
                <a:latin typeface="Aptos Mono" panose="020B0009020202020204" pitchFamily="49" charset="0"/>
              </a:rPr>
              <a:t>=True)</a:t>
            </a:r>
          </a:p>
          <a:p>
            <a:pPr marL="457200" lvl="1" indent="0">
              <a:buNone/>
            </a:pPr>
            <a:endParaRPr lang="en-US" dirty="0">
              <a:latin typeface="Aptos Mono" panose="020B0009020202020204" pitchFamily="49" charset="0"/>
            </a:endParaRPr>
          </a:p>
          <a:p>
            <a:r>
              <a:rPr lang="en-US" dirty="0"/>
              <a:t>Note: .where() is current best practice for large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7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A50CE-8B2A-2213-63A0-136650E0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4AA0D-EDD3-660E-F174-306DF27DE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in about one week</a:t>
            </a:r>
          </a:p>
          <a:p>
            <a:r>
              <a:rPr lang="en-US" dirty="0"/>
              <a:t>Part 1 practice problems, </a:t>
            </a:r>
            <a:r>
              <a:rPr lang="en-US" dirty="0" err="1"/>
              <a:t>cheatsheet</a:t>
            </a:r>
            <a:r>
              <a:rPr lang="en-US" dirty="0"/>
              <a:t> available soon</a:t>
            </a:r>
          </a:p>
        </p:txBody>
      </p:sp>
    </p:spTree>
    <p:extLst>
      <p:ext uri="{BB962C8B-B14F-4D97-AF65-F5344CB8AC3E}">
        <p14:creationId xmlns:p14="http://schemas.microsoft.com/office/powerpoint/2010/main" val="177521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1497</Words>
  <Application>Microsoft Macintosh PowerPoint</Application>
  <PresentationFormat>Widescreen</PresentationFormat>
  <Paragraphs>158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Aptos Mono</vt:lpstr>
      <vt:lpstr>Arial</vt:lpstr>
      <vt:lpstr>Office Theme</vt:lpstr>
      <vt:lpstr>Pandas 5</vt:lpstr>
      <vt:lpstr>The Plan</vt:lpstr>
      <vt:lpstr>Database operations in Pandas</vt:lpstr>
      <vt:lpstr>Recap: Database Operations in Pandas</vt:lpstr>
      <vt:lpstr>Reshaping</vt:lpstr>
      <vt:lpstr>Reshaping Data in Pandas</vt:lpstr>
      <vt:lpstr>Melt</vt:lpstr>
      <vt:lpstr>PowerPoint Presentation</vt:lpstr>
      <vt:lpstr>Pivot</vt:lpstr>
      <vt:lpstr>PowerPoint Presentation</vt:lpstr>
      <vt:lpstr>pivot() vs. pivot_table()</vt:lpstr>
      <vt:lpstr>Concatenate DataFrames</vt:lpstr>
      <vt:lpstr>Wait! What happened to our index?</vt:lpstr>
      <vt:lpstr>Ordering and Renaming Rows and Columns </vt:lpstr>
      <vt:lpstr>Ordering rows</vt:lpstr>
      <vt:lpstr>PowerPoint Presentation</vt:lpstr>
      <vt:lpstr>Reset and Drop Indices</vt:lpstr>
      <vt:lpstr>Reordering Columns in Pandas</vt:lpstr>
      <vt:lpstr>Renaming Columns and Rows in Pandas</vt:lpstr>
      <vt:lpstr>Merging Two DataFrames</vt:lpstr>
      <vt:lpstr>Why merge datasets? </vt:lpstr>
      <vt:lpstr>PowerPoint Presentation</vt:lpstr>
      <vt:lpstr>How to Merge Datasets in Pandas</vt:lpstr>
      <vt:lpstr>Types of merges (database joins)</vt:lpstr>
      <vt:lpstr>Types of Joins in Pandas</vt:lpstr>
      <vt:lpstr>PowerPoint Presentation</vt:lpstr>
      <vt:lpstr>Key Concepts for Merging in Pandas</vt:lpstr>
      <vt:lpstr>Update, Insert, and Delete</vt:lpstr>
      <vt:lpstr>Inserting or Deleting a Series</vt:lpstr>
      <vt:lpstr>Updating values by position</vt:lpstr>
      <vt:lpstr>Conditional Replacement </vt:lpstr>
      <vt:lpstr>More Conditional Replacement Methods</vt:lpstr>
      <vt:lpstr>Pandas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4</dc:title>
  <dc:creator>Thomas E. Allen</dc:creator>
  <cp:lastModifiedBy>Thomas E. Allen</cp:lastModifiedBy>
  <cp:revision>2</cp:revision>
  <dcterms:created xsi:type="dcterms:W3CDTF">2024-09-30T00:56:13Z</dcterms:created>
  <dcterms:modified xsi:type="dcterms:W3CDTF">2025-10-01T17:40:24Z</dcterms:modified>
</cp:coreProperties>
</file>